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4540"/>
    <a:srgbClr val="E5DDDB"/>
    <a:srgbClr val="541C00"/>
    <a:srgbClr val="5C2A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7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26CB9-7024-5846-EE24-0FB271B60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7E18B-E148-D35E-4732-373C7F2A1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80F10-8F0A-B45B-1419-464DF96EA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1E7D5-239F-4245-BD39-437CCA16091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27B1B-2CD4-A269-7932-598E62732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D3A33-2909-B905-7DC4-E5D385D2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6DEAE-2FD2-4396-A3D7-7C8FD0A4A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860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99269-98B5-A4B4-CCEA-8DCD93FEA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8148F-CB38-B911-E0CD-843529F34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F4143-A011-3868-244E-976C63C9A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1E7D5-239F-4245-BD39-437CCA16091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A22BE-3424-D00C-1802-24926A33E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0FA6E-9F55-8B18-C3D2-1D6CDBF8B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6DEAE-2FD2-4396-A3D7-7C8FD0A4A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722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832D2-983F-2A66-2886-F245CFE31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F9A99-A7D6-9C32-1656-7F5CDDC2C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5E40D-44DB-0CF2-6FF8-5F573371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1E7D5-239F-4245-BD39-437CCA16091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E1475-1DC3-D580-EF83-FC5C94CCC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08540-EAE5-6846-8907-4B1CE23F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6DEAE-2FD2-4396-A3D7-7C8FD0A4A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05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5EF82-2026-4347-1FF8-0487B2ECB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CC6E0-B1BD-6A3B-16F7-9BDEF020C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62D3CF-FF7C-45B0-1506-5152D04C4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9AC52F-8E2C-94B5-EF3C-5263EA343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1E7D5-239F-4245-BD39-437CCA16091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A7860-C192-EA9E-54BB-1A5C2C699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98789-4DCA-87A8-C28A-1D7D34C1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6DEAE-2FD2-4396-A3D7-7C8FD0A4A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680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C3609-A6B5-DBB4-F54F-819D41C46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444DC-C3E0-6CD1-F8F7-3F9353AF2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13B68C-C93A-8C12-5163-730DBE1E1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D3E2E7-8015-5EAA-23D9-3D6117DD65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5C76D-8A6A-F69D-0BA1-F76461D76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931CD4-79D2-506E-D745-D711DC6C6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1E7D5-239F-4245-BD39-437CCA16091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14B4AA-7000-AD14-E335-B9E5EC16F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E32C64-16BA-A63C-15C6-8E8BC5FC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6DEAE-2FD2-4396-A3D7-7C8FD0A4A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97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6495F-6D5B-0586-0AB9-9808C833E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72E789-E2D5-E3F9-CF91-0DAE23761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1E7D5-239F-4245-BD39-437CCA16091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DBD576-28C3-5EE9-0CA1-13366622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F6284-547A-55D4-30B6-6B91EBC65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6DEAE-2FD2-4396-A3D7-7C8FD0A4A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047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1CD954-C5AD-4C37-6B9A-D37DF19A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1E7D5-239F-4245-BD39-437CCA16091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05C2B1-A294-D6DE-4C70-242A77553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EF667-7AAF-55A1-BCAD-8320FBBE1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6DEAE-2FD2-4396-A3D7-7C8FD0A4A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193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E015B-557A-2690-87BF-C1B9618FC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57D3F-98DC-9001-2848-AE7CA89AD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143BD-949B-FD91-CE03-EC06CCE08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E81FB-C858-8C5C-1FAA-8232C7688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1E7D5-239F-4245-BD39-437CCA16091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3760E-A5E8-FB32-9A93-C4B5D64B8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CECBD-1C58-0362-455F-6C041D50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6DEAE-2FD2-4396-A3D7-7C8FD0A4A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55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CA9E2-CFE5-4036-6A16-BDCFF5192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D3D965-3DF3-880F-FC70-5DC4F31765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DF457-1A5F-89F6-C623-5B8F105D5D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0A31E-137E-E1CB-0119-78CC7587F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1E7D5-239F-4245-BD39-437CCA16091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53E6E-95F7-985B-C726-224527598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9493C-5199-4FC7-2096-97883F4F7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6DEAE-2FD2-4396-A3D7-7C8FD0A4A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734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09426-32DC-1F04-EB25-3203DB4D1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4E5CAB-DF91-E382-FD0C-C05C1385B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52709-FEB0-77E3-ADB9-6D7CBE457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1E7D5-239F-4245-BD39-437CCA16091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D958A-5CEE-27A8-17D6-12B9CC806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956CD-20BE-362B-DC01-3F030089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6DEAE-2FD2-4396-A3D7-7C8FD0A4A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746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56A4D5-6A4E-75ED-C131-C0AD62597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7D7333-6F3B-9E25-7390-BE78D5194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9959C-81FF-0C7D-82CE-AC1A4E4D9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1E7D5-239F-4245-BD39-437CCA16091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13FA2-2765-6004-A3DC-14B32F503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131A5-D46B-C378-6C05-011D48487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16DEAE-2FD2-4396-A3D7-7C8FD0A4A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007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16132F-902F-F1F4-DE8D-285AB98FA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A68D5-3373-4519-0498-8E030980A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4A38F-D0F6-02ED-932E-530B8EE0AE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1E7D5-239F-4245-BD39-437CCA16091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5ECF5-5820-89F8-A6E8-77E184A9B1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075DA-3E01-9A1C-6667-E86B7FED3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6DEAE-2FD2-4396-A3D7-7C8FD0A4A7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764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1DD22E-D76F-AE69-B55A-A3A7C8AD381E}"/>
              </a:ext>
            </a:extLst>
          </p:cNvPr>
          <p:cNvSpPr/>
          <p:nvPr/>
        </p:nvSpPr>
        <p:spPr>
          <a:xfrm>
            <a:off x="0" y="1785257"/>
            <a:ext cx="12192000" cy="2699658"/>
          </a:xfrm>
          <a:prstGeom prst="rect">
            <a:avLst/>
          </a:prstGeom>
          <a:solidFill>
            <a:srgbClr val="5945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9CD81A-853E-BFD0-3E11-788AE65EC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5258"/>
            <a:ext cx="10515600" cy="269965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5DD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Dashboard</a:t>
            </a:r>
            <a:br>
              <a:rPr lang="en-US" dirty="0">
                <a:solidFill>
                  <a:srgbClr val="E5DD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E5DD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Sharvari Kulkarni</a:t>
            </a:r>
            <a:br>
              <a:rPr lang="en-US" dirty="0">
                <a:solidFill>
                  <a:srgbClr val="E5DD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E5DD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Tool: Power BI</a:t>
            </a:r>
            <a:br>
              <a:rPr lang="en-US" dirty="0">
                <a:solidFill>
                  <a:srgbClr val="E5DD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E5DD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 Chocolate Sales</a:t>
            </a:r>
            <a:endParaRPr lang="en-IN" dirty="0">
              <a:solidFill>
                <a:srgbClr val="E5DDD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3E92586-3394-EA39-A3E3-E634C975B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257" y="979714"/>
            <a:ext cx="4310743" cy="43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772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6D0518E-3444-EC00-140D-E6C7C8687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9229" y="4354285"/>
            <a:ext cx="3026229" cy="3026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F7743F-DE38-9C8C-73C5-B157BF8E5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175" y="308429"/>
            <a:ext cx="7570912" cy="1318883"/>
          </a:xfrm>
        </p:spPr>
        <p:txBody>
          <a:bodyPr>
            <a:normAutofit/>
          </a:bodyPr>
          <a:lstStyle/>
          <a:p>
            <a:pPr algn="r"/>
            <a:r>
              <a:rPr lang="en-US" b="1" dirty="0">
                <a:solidFill>
                  <a:srgbClr val="5945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b="1" dirty="0">
              <a:solidFill>
                <a:srgbClr val="5945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17A62-420F-A27A-C7CA-9480E5F7B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745" y="1942998"/>
            <a:ext cx="8006342" cy="4235502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develop an interactive and user-friendly dashboard that transforms raw sales data into actionable business insights.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enables stakeholders to evaluate revenue growth, profitability, product performance, and market trends through real-time KPIs and time-series analysis.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filters, dynamic visuals, and growth indicators, the dashboard supports data-driven decision-making and performance optimization.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E67D69-C633-A0BC-DC73-F11D5FCA34FF}"/>
              </a:ext>
            </a:extLst>
          </p:cNvPr>
          <p:cNvSpPr/>
          <p:nvPr/>
        </p:nvSpPr>
        <p:spPr>
          <a:xfrm>
            <a:off x="8665029" y="0"/>
            <a:ext cx="3526971" cy="6858000"/>
          </a:xfrm>
          <a:prstGeom prst="rect">
            <a:avLst/>
          </a:prstGeom>
          <a:solidFill>
            <a:srgbClr val="59454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59454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529CB0-069A-A9CF-1CCF-5B21CF9AB5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6914" y="1839346"/>
            <a:ext cx="2950370" cy="295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528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1E1A-014A-A5FD-0359-06692662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7" y="0"/>
            <a:ext cx="11212286" cy="1452788"/>
          </a:xfrm>
        </p:spPr>
        <p:txBody>
          <a:bodyPr>
            <a:noAutofit/>
          </a:bodyPr>
          <a:lstStyle/>
          <a:p>
            <a:pPr algn="r"/>
            <a:r>
              <a:rPr lang="en-IN" b="1" dirty="0">
                <a:solidFill>
                  <a:srgbClr val="5945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(KPIs)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CE513-D2D4-B903-DD0B-317C77B99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57" y="1524000"/>
            <a:ext cx="11212286" cy="481148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(KPIs) are measurable metrics used to evaluate how effectively a business is achieving its strategic and financial goals.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total revenue generated from all product transactions within the selected time period. It indicates overall business size and revenue performance.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as revenue minus cost (or based on assumed margin). It shows how much money the business actually retains after expenses.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 (%)-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as a percentage of total sales.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Formula: Profit Margin = (Total Profit / Total Sales) × 100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measures efficiency and pricing effectiveness. High sales with low margin can indicate pricing or cost issues.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Month-over-Month (MoM) Growth-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change in sales compared to the previous month.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Formula: (Current Month Sales − Previous Month Sales) / Previous Month Sales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short-term growth trends and business momentum.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Sold-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product units sold during a selected period. It reflects demand level and product popularity.</a:t>
            </a:r>
          </a:p>
        </p:txBody>
      </p:sp>
    </p:spTree>
    <p:extLst>
      <p:ext uri="{BB962C8B-B14F-4D97-AF65-F5344CB8AC3E}">
        <p14:creationId xmlns:p14="http://schemas.microsoft.com/office/powerpoint/2010/main" val="2542696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4A405-BFCC-8019-A260-FAE6080F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7229" y="428179"/>
            <a:ext cx="8590285" cy="843189"/>
          </a:xfrm>
        </p:spPr>
        <p:txBody>
          <a:bodyPr>
            <a:noAutofit/>
          </a:bodyPr>
          <a:lstStyle/>
          <a:p>
            <a:pPr algn="ctr"/>
            <a:r>
              <a:rPr lang="en-IN" b="1" dirty="0">
                <a:solidFill>
                  <a:srgbClr val="5945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 Overview: Key Insights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4951C3-AF9B-57BD-931D-A6DA40430C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0829" y="1702042"/>
            <a:ext cx="8262966" cy="47277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182E2F-57FE-25EA-A5B1-06608491779E}"/>
              </a:ext>
            </a:extLst>
          </p:cNvPr>
          <p:cNvSpPr txBox="1"/>
          <p:nvPr/>
        </p:nvSpPr>
        <p:spPr>
          <a:xfrm>
            <a:off x="338205" y="243512"/>
            <a:ext cx="321053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company generated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$6.18M in total sales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$1.86M in total profit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maintaining a strong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30% profit margin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healthy cost control.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peaked around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June–July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a mid-year performance spike and positive seasonal momentum.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Australia is the top-performing market ($1.14M in sales)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closely by the UK and India (~$1.05M each), indicating strong international distribution.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MoM growth of 13.66%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reflects upward revenue momentum and improving performance trajectory.</a:t>
            </a:r>
          </a:p>
        </p:txBody>
      </p:sp>
    </p:spTree>
    <p:extLst>
      <p:ext uri="{BB962C8B-B14F-4D97-AF65-F5344CB8AC3E}">
        <p14:creationId xmlns:p14="http://schemas.microsoft.com/office/powerpoint/2010/main" val="772382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4788E-C3FC-ADF4-4588-C566D86AB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76" y="113786"/>
            <a:ext cx="8262853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5945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Performance Insights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2500E71-BA76-B29A-9FA1-5DB8219BCD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056" y="1556657"/>
            <a:ext cx="8521671" cy="4896909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D39D359C-7304-0051-B640-427FE5A0D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1060" y="1074820"/>
            <a:ext cx="3165884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Smooth Silky Salty and 50% Dark Bites lead revenue and profit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core portfolio drivers.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Quantity sold dropped sharply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February (18K)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but recovered strongly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June (26.3K)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seasonality or campaign impact.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products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White Choc and Peanut Butter Cubes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generate strong sales but comparatively lower profit than top performers, suggesting room for margin optimization.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Profit contribution is concentrated in a few key products, increasing reliance risk if demand shifts.</a:t>
            </a:r>
          </a:p>
        </p:txBody>
      </p:sp>
    </p:spTree>
    <p:extLst>
      <p:ext uri="{BB962C8B-B14F-4D97-AF65-F5344CB8AC3E}">
        <p14:creationId xmlns:p14="http://schemas.microsoft.com/office/powerpoint/2010/main" val="2183695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96535-F0C0-E312-D8B0-C40D39F2C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953"/>
            <a:ext cx="10515600" cy="1325563"/>
          </a:xfrm>
        </p:spPr>
        <p:txBody>
          <a:bodyPr/>
          <a:lstStyle/>
          <a:p>
            <a:pPr algn="r"/>
            <a:r>
              <a:rPr lang="en-IN" b="1" dirty="0">
                <a:solidFill>
                  <a:srgbClr val="5945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Interactivity &amp; Technical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D4D47-A1AA-A413-6ADD-B37211A61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310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Slicers (Date, Country, Product, Salesperson)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dynamic filtering across all visuals, allowing users to drill into specific markets, products, time periods, or individual sales performance instantly.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Navigator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structured navigation between Executive Overview and Product Analysis pages, improving user experience and making the report presentation-ready.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Formatting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color scales on Profit Margin and growth metrics to visually highlight high-performing (green) and low-performing (red) segments for faster insight recognition.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N Filtering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Configured visuals to dynamically display Top 10 products based on sales, allowing focused performance analysis without clutter.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Trend Analysis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monthly Sales and Profit trend lines to detect seasonality, growth patterns, and sudden performance shifts.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305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7750-F648-C35C-1E88-84AA51CDB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402"/>
            <a:ext cx="10515600" cy="941161"/>
          </a:xfrm>
        </p:spPr>
        <p:txBody>
          <a:bodyPr/>
          <a:lstStyle/>
          <a:p>
            <a:pPr algn="r"/>
            <a:r>
              <a:rPr lang="en-US" b="1" dirty="0">
                <a:solidFill>
                  <a:srgbClr val="5945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Actions Based on Analysis</a:t>
            </a:r>
            <a:endParaRPr lang="en-IN" b="1" dirty="0">
              <a:solidFill>
                <a:srgbClr val="5945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C907C5-06B1-8BB1-2C8F-B361C31AC5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06286"/>
            <a:ext cx="10374086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Prioritize High-Margin Products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 marketing investment and promotional visibility for products delivering strong profit margins to maximize return on marketing spend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Reevaluate Pricing of High-Volume, Low-Margin Products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Conduct cost and pricing analysis for products generating strong sales but relatively lower margins. Even small pricing adjustments could significantly improve overall profitability.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Strengthen Presence in Top-Performing Countries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 distribution, partnerships, and campaigns in markets like Australia, UK, and India where sales performance is already strong.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Address Seasonal Fluctuations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Investigate the February dip and replicate strategies that drove the June sales peak to stabilize revenue throughout the year.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 Product Portfolio Strategy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overdependence on a few key revenue drivers by nurturing mid-tier products with strong growth potential.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ADFEC4-524E-DC22-DFA0-F05B4D460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0685" y="3983942"/>
            <a:ext cx="3026229" cy="302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746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728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Sales Performance Dashboard Sharvari Kulkarni Tool: Power BI Dataset: Chocolate Sales</vt:lpstr>
      <vt:lpstr>Objective</vt:lpstr>
      <vt:lpstr>Key Performance Indicators (KPIs)</vt:lpstr>
      <vt:lpstr>Executive Overview: Key Insights</vt:lpstr>
      <vt:lpstr>Product Performance Insights</vt:lpstr>
      <vt:lpstr>Interactivity &amp; Technical Features</vt:lpstr>
      <vt:lpstr>Strategic Actions Based on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2026-02-18T04:38:26Z</dcterms:created>
  <dcterms:modified xsi:type="dcterms:W3CDTF">2026-02-18T04:40:45Z</dcterms:modified>
</cp:coreProperties>
</file>